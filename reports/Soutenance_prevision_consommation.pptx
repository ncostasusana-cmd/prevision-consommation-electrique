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Imaginons un fournisseur d'électricité. Chaque jour avant 10 h, il doit décider quelle quantité d'énergie acheter pour le lendemain. Aujourd'hui, il suppose que demain sera comme aujourd'hui. Si on se trompe, ça coûte : en sous-estimant, on rachète en urgence à 0,15 € le kWh au lieu de 0,10 €, soit 5 centimes perdus. En surestimant, on revend le surplus à 0,07 €, soit 3 centimes perdus. Notre objectif de départ : réduire l'erreur moyenne d'au moins 20 % par rapport à cette méthode actuelle.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Nos données viennent de l'UCI : un seul foyer, une mesure par minute, de décembre 2006 à novembre 2010. Mon rôle était de les rendre exploitables pour Susana. D'abord, j'ai converti les kW mesurés chaque minute en kWh par jour. Ensuite, j'ai écarté les jours incomplets, sans rien imputer : sur 1 442 jours mesurés, il en reste 1 358 avec leurs 1 440 minutes. Après, j'ai construit les variables : le jour de la semaine, le mois, un indicateur week-end, et la consommation de la veille et de la semaine précédente. Une fois les retards construits, il reste 1 205 jours. Point important : j'ai évité la fuite de données. Les retards sont alignés sur le calendrier, et j'ai exclu tout ce qu'on ne connaît pas la veille : tension, intensité et sous-compteurs du jour même. L'analyse exploratoire montre : 34,5 kWh par jour en hiver contre 12,7 en août, un week-end qui consomme environ 17 % de plus, et la veille qui est le meilleur indice pour demain (corrélation 0,62). J'ai livré le notebook 01_cadrage_eda.ipynb et la table propre features_conso.csv. Je passe la parole à Susana.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Démarche : « Pour savoir si un modèle est utile, il faut le comparer à des méthodes simples et ne jamais regarder le test avant la fin. On a découpé les données dans l'ordre du temps : 930 jours pour apprendre, 233 jours pour tester, jamais vus. On a comparé six approches : trois méthodes simples et trois modèles (régression linéaire, arbre de décision, Random Forest), par validation croisée temporelle. »
Métrique : « La MAE : l'erreur moyenne en kWh par jour. Le RMSE sert de garde-fou. »
Résultat : « Le Random Forest est le meilleur modèle : 4,19 kWh par jour d'erreur contre 4,82 pour la méthode actuelle, soit 13,1 % en moins. L'objectif de 20 % n'est pas atteint, et une simple moyenne des 7 derniers jours fait aussi bien : 4,18. »
Pourquoi : « Le modèle s'appuie surtout sur la moyenne des 7 derniers jours (61 %) et sur la veille (25 %). Il se trompe surtout le week-end et les jours de rupture, car il ne connaît ni la météo ni la présence des habitants.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Avec nos hypothèses de prix, 10 000 foyers et un projet à 50 000 € la première année, le gain estimé est de 127 600 € par an face à la méthode actuelle, soit un ROI de 155 %. Mais il dépend de la référence : face à la moyenne des 7 jours, que le modèle ne bat pas, le gain tombe à environ 21 600 €. Et il faut au moins 3 900 foyers pour être rentable. Le scénario pessimiste est négatif : le résultat n'est pas garanti.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Nos deux risques principaux : les données ne concernent qu'un foyer, et le gain n'est pas démontré face à une moyenne simple. Notre recommandation : un pilote de 3 mois sur un petit portefeuille, avec la météo et les jours fériés, pour mesurer le vrai coût d'une erreur avant tout déploiement. Merci, nous sommes prêts pour vos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Récapitulatif de la répartition du travail entre les trois membres.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Le problème : prévoir la demande de demain</a:t>
            </a:r>
            <a:endParaRPr lang="en-US" sz="2400" dirty="0"/>
          </a:p>
        </p:txBody>
      </p:sp>
      <p:sp>
        <p:nvSpPr>
          <p:cNvPr id="4" name="Text 2"/>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Présenté par Eurydice SEMASSOU (Membre 1)</a:t>
            </a:r>
            <a:endParaRPr lang="en-US" sz="1100" dirty="0"/>
          </a:p>
        </p:txBody>
      </p:sp>
      <p:sp>
        <p:nvSpPr>
          <p:cNvPr id="6" name="Text 3"/>
          <p:cNvSpPr txBox="1"/>
          <p:nvPr/>
        </p:nvSpPr>
        <p:spPr>
          <a:xfrm>
            <a:off x="457200" y="960120"/>
            <a:ext cx="8229600" cy="64008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Chaque jour avant 10 h, le responsable de l'approvisionnement doit fixer l'énergie à acheter pour le lendemain. Aujourd'hui : « demain = aujourd'hui ».</a:t>
            </a:r>
            <a:endParaRPr lang="en-US" sz="1600" dirty="0"/>
          </a:p>
        </p:txBody>
      </p:sp>
      <p:sp>
        <p:nvSpPr>
          <p:cNvPr id="7" name="Shape 4"/>
          <p:cNvSpPr/>
          <p:nvPr/>
        </p:nvSpPr>
        <p:spPr>
          <a:xfrm>
            <a:off x="457200" y="1783080"/>
            <a:ext cx="3977640" cy="150876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8" name="Text 5"/>
          <p:cNvSpPr txBox="1"/>
          <p:nvPr/>
        </p:nvSpPr>
        <p:spPr>
          <a:xfrm>
            <a:off x="594360" y="1828800"/>
            <a:ext cx="3703320" cy="1417320"/>
          </a:xfrm>
          <a:prstGeom prst="rect">
            <a:avLst/>
          </a:prstGeom>
          <a:noFill/>
          <a:ln/>
        </p:spPr>
        <p:txBody>
          <a:bodyPr wrap="square" lIns="0" tIns="0" rIns="0" bIns="0" rtlCol="0" anchor="t"/>
          <a:lstStyle/>
          <a:p>
            <a:pPr indent="0" marL="0">
              <a:spcAft>
                <a:spcPts val="400"/>
              </a:spcAft>
              <a:buNone/>
            </a:pPr>
            <a:r>
              <a:rPr lang="en-US" sz="1600" b="1" dirty="0">
                <a:solidFill>
                  <a:srgbClr val="E4572E"/>
                </a:solidFill>
                <a:latin typeface="Calibri" pitchFamily="34" charset="0"/>
                <a:ea typeface="Calibri" pitchFamily="34" charset="-122"/>
                <a:cs typeface="Calibri" pitchFamily="34" charset="-120"/>
              </a:rPr>
              <a:t>Si on sous-estime</a:t>
            </a:r>
            <a:endParaRPr lang="en-US" sz="1400" dirty="0"/>
          </a:p>
          <a:p>
            <a:pPr indent="0" marL="0">
              <a:spcAft>
                <a:spcPts val="400"/>
              </a:spcAft>
              <a:buNone/>
            </a:pPr>
            <a:r>
              <a:rPr lang="en-US" sz="1400" dirty="0">
                <a:solidFill>
                  <a:srgbClr val="333333"/>
                </a:solidFill>
                <a:latin typeface="Calibri" pitchFamily="34" charset="0"/>
                <a:ea typeface="Calibri" pitchFamily="34" charset="-122"/>
                <a:cs typeface="Calibri" pitchFamily="34" charset="-120"/>
              </a:rPr>
              <a:t>Il manque de l'énergie : rachat en urgence à 0,15 €/kWh au lieu de 0,10 €.</a:t>
            </a:r>
            <a:endParaRPr lang="en-US" sz="1400" dirty="0"/>
          </a:p>
          <a:p>
            <a:pPr indent="0" marL="0">
              <a:spcAft>
                <a:spcPts val="400"/>
              </a:spcAft>
              <a:buNone/>
            </a:pPr>
            <a:r>
              <a:rPr lang="en-US" sz="1400" b="1" dirty="0">
                <a:solidFill>
                  <a:srgbClr val="333333"/>
                </a:solidFill>
                <a:latin typeface="Calibri" pitchFamily="34" charset="0"/>
                <a:ea typeface="Calibri" pitchFamily="34" charset="-122"/>
                <a:cs typeface="Calibri" pitchFamily="34" charset="-120"/>
              </a:rPr>
              <a:t>Perte : 0,05 €/kWh</a:t>
            </a:r>
            <a:endParaRPr lang="en-US" sz="1400" dirty="0"/>
          </a:p>
        </p:txBody>
      </p:sp>
      <p:sp>
        <p:nvSpPr>
          <p:cNvPr id="9" name="Shape 6"/>
          <p:cNvSpPr/>
          <p:nvPr/>
        </p:nvSpPr>
        <p:spPr>
          <a:xfrm>
            <a:off x="4709160" y="1783080"/>
            <a:ext cx="3977640" cy="150876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0" name="Text 7"/>
          <p:cNvSpPr txBox="1"/>
          <p:nvPr/>
        </p:nvSpPr>
        <p:spPr>
          <a:xfrm>
            <a:off x="4846320" y="1828800"/>
            <a:ext cx="3703320" cy="1417320"/>
          </a:xfrm>
          <a:prstGeom prst="rect">
            <a:avLst/>
          </a:prstGeom>
          <a:noFill/>
          <a:ln/>
        </p:spPr>
        <p:txBody>
          <a:bodyPr wrap="square" lIns="0" tIns="0" rIns="0" bIns="0" rtlCol="0" anchor="t"/>
          <a:lstStyle/>
          <a:p>
            <a:pPr indent="0" marL="0">
              <a:spcAft>
                <a:spcPts val="400"/>
              </a:spcAft>
              <a:buNone/>
            </a:pPr>
            <a:r>
              <a:rPr lang="en-US" sz="1600" b="1" dirty="0">
                <a:solidFill>
                  <a:srgbClr val="C98A00"/>
                </a:solidFill>
                <a:latin typeface="Calibri" pitchFamily="34" charset="0"/>
                <a:ea typeface="Calibri" pitchFamily="34" charset="-122"/>
                <a:cs typeface="Calibri" pitchFamily="34" charset="-120"/>
              </a:rPr>
              <a:t>Si on surestime</a:t>
            </a:r>
            <a:endParaRPr lang="en-US" sz="1400" dirty="0"/>
          </a:p>
          <a:p>
            <a:pPr indent="0" marL="0">
              <a:spcAft>
                <a:spcPts val="400"/>
              </a:spcAft>
              <a:buNone/>
            </a:pPr>
            <a:r>
              <a:rPr lang="en-US" sz="1400" dirty="0">
                <a:solidFill>
                  <a:srgbClr val="333333"/>
                </a:solidFill>
                <a:latin typeface="Calibri" pitchFamily="34" charset="0"/>
                <a:ea typeface="Calibri" pitchFamily="34" charset="-122"/>
                <a:cs typeface="Calibri" pitchFamily="34" charset="-120"/>
              </a:rPr>
              <a:t>Le surplus est revendu à 0,07 €/kWh.</a:t>
            </a:r>
            <a:endParaRPr lang="en-US" sz="1400" dirty="0"/>
          </a:p>
          <a:p>
            <a:pPr indent="0" marL="0">
              <a:spcAft>
                <a:spcPts val="400"/>
              </a:spcAft>
              <a:buNone/>
            </a:pPr>
            <a:r>
              <a:rPr lang="en-US" sz="1400" b="1" dirty="0">
                <a:solidFill>
                  <a:srgbClr val="333333"/>
                </a:solidFill>
                <a:latin typeface="Calibri" pitchFamily="34" charset="0"/>
                <a:ea typeface="Calibri" pitchFamily="34" charset="-122"/>
                <a:cs typeface="Calibri" pitchFamily="34" charset="-120"/>
              </a:rPr>
              <a:t>Perte : 0,03 €/kWh</a:t>
            </a:r>
            <a:endParaRPr lang="en-US" sz="1400" dirty="0"/>
          </a:p>
        </p:txBody>
      </p:sp>
      <p:sp>
        <p:nvSpPr>
          <p:cNvPr id="11" name="Shape 8"/>
          <p:cNvSpPr/>
          <p:nvPr/>
        </p:nvSpPr>
        <p:spPr>
          <a:xfrm>
            <a:off x="457200" y="3566160"/>
            <a:ext cx="8229600" cy="868680"/>
          </a:xfrm>
          <a:prstGeom prst="rect">
            <a:avLst/>
          </a:prstGeom>
          <a:solidFill>
            <a:srgbClr val="FFF7DA"/>
          </a:solidFill>
          <a:ln w="12700">
            <a:solidFill>
              <a:srgbClr val="F2C94C"/>
            </a:solidFill>
            <a:prstDash val="solid"/>
          </a:ln>
        </p:spPr>
      </p:sp>
      <p:sp>
        <p:nvSpPr>
          <p:cNvPr id="12" name="Text 9"/>
          <p:cNvSpPr txBox="1"/>
          <p:nvPr/>
        </p:nvSpPr>
        <p:spPr>
          <a:xfrm>
            <a:off x="640080" y="3566160"/>
            <a:ext cx="7863840" cy="868680"/>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Objectif de départ : réduire l'erreur moyenne (MAE) d'au moins 20 % par rapport à « demain = aujourd'hui »</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Les données : un foyer, quatre ans, des jours à écarter</a:t>
            </a:r>
            <a:endParaRPr lang="en-US" sz="2400" dirty="0"/>
          </a:p>
        </p:txBody>
      </p:sp>
      <p:sp>
        <p:nvSpPr>
          <p:cNvPr id="4" name="Text 2"/>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Présenté par Sabirath SOUMANOU (Membre 2)</a:t>
            </a:r>
            <a:endParaRPr lang="en-US" sz="1100" dirty="0"/>
          </a:p>
        </p:txBody>
      </p:sp>
      <p:sp>
        <p:nvSpPr>
          <p:cNvPr id="6" name="Shape 3"/>
          <p:cNvSpPr/>
          <p:nvPr/>
        </p:nvSpPr>
        <p:spPr>
          <a:xfrm>
            <a:off x="457200" y="960120"/>
            <a:ext cx="2560320" cy="128016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7" name="Text 4"/>
          <p:cNvSpPr txBox="1"/>
          <p:nvPr/>
        </p:nvSpPr>
        <p:spPr>
          <a:xfrm>
            <a:off x="594360" y="1005840"/>
            <a:ext cx="22860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1 442</a:t>
            </a:r>
            <a:endParaRPr lang="en-US" sz="3600" dirty="0"/>
          </a:p>
        </p:txBody>
      </p:sp>
      <p:sp>
        <p:nvSpPr>
          <p:cNvPr id="8" name="Text 5"/>
          <p:cNvSpPr txBox="1"/>
          <p:nvPr/>
        </p:nvSpPr>
        <p:spPr>
          <a:xfrm>
            <a:off x="594360" y="1737360"/>
            <a:ext cx="228600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jours mesurés (2006-2010)</a:t>
            </a:r>
            <a:endParaRPr lang="en-US" sz="1200" dirty="0"/>
          </a:p>
        </p:txBody>
      </p:sp>
      <p:sp>
        <p:nvSpPr>
          <p:cNvPr id="9" name="Shape 6"/>
          <p:cNvSpPr/>
          <p:nvPr/>
        </p:nvSpPr>
        <p:spPr>
          <a:xfrm>
            <a:off x="3291840" y="960120"/>
            <a:ext cx="2560320" cy="128016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0" name="Text 7"/>
          <p:cNvSpPr txBox="1"/>
          <p:nvPr/>
        </p:nvSpPr>
        <p:spPr>
          <a:xfrm>
            <a:off x="3429000" y="1005840"/>
            <a:ext cx="22860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1 358</a:t>
            </a:r>
            <a:endParaRPr lang="en-US" sz="3600" dirty="0"/>
          </a:p>
        </p:txBody>
      </p:sp>
      <p:sp>
        <p:nvSpPr>
          <p:cNvPr id="11" name="Text 8"/>
          <p:cNvSpPr txBox="1"/>
          <p:nvPr/>
        </p:nvSpPr>
        <p:spPr>
          <a:xfrm>
            <a:off x="3429000" y="1737360"/>
            <a:ext cx="2286000" cy="411480"/>
          </a:xfrm>
          <a:prstGeom prst="rect">
            <a:avLst/>
          </a:prstGeom>
          <a:noFill/>
          <a:ln/>
        </p:spPr>
        <p:txBody>
          <a:bodyPr wrap="square" lIns="0" tIns="0" rIns="0" bIns="0" rtlCol="0" anchor="t"/>
          <a:lstStyle/>
          <a:p>
            <a:pPr indent="0" marL="0">
              <a:buNone/>
            </a:pPr>
            <a:r>
              <a:rPr lang="en-US" sz="1200" dirty="0">
                <a:solidFill>
                  <a:srgbClr val="14A89A"/>
                </a:solidFill>
                <a:latin typeface="Calibri" pitchFamily="34" charset="0"/>
                <a:ea typeface="Calibri" pitchFamily="34" charset="-122"/>
                <a:cs typeface="Calibri" pitchFamily="34" charset="-120"/>
              </a:rPr>
              <a:t>jours complets (1 440 min)</a:t>
            </a:r>
            <a:endParaRPr lang="en-US" sz="1200" dirty="0"/>
          </a:p>
        </p:txBody>
      </p:sp>
      <p:sp>
        <p:nvSpPr>
          <p:cNvPr id="12" name="Shape 9"/>
          <p:cNvSpPr/>
          <p:nvPr/>
        </p:nvSpPr>
        <p:spPr>
          <a:xfrm>
            <a:off x="6126480" y="960120"/>
            <a:ext cx="2560320" cy="128016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3" name="Text 10"/>
          <p:cNvSpPr txBox="1"/>
          <p:nvPr/>
        </p:nvSpPr>
        <p:spPr>
          <a:xfrm>
            <a:off x="6263640" y="1005840"/>
            <a:ext cx="2286000" cy="731520"/>
          </a:xfrm>
          <a:prstGeom prst="rect">
            <a:avLst/>
          </a:prstGeom>
          <a:noFill/>
          <a:ln/>
        </p:spPr>
        <p:txBody>
          <a:bodyPr wrap="square" lIns="0" tIns="0" rIns="0" bIns="0" rtlCol="0" anchor="ctr"/>
          <a:lstStyle/>
          <a:p>
            <a:pPr indent="0" marL="0">
              <a:buNone/>
            </a:pPr>
            <a:r>
              <a:rPr lang="en-US" sz="3600" b="1" dirty="0">
                <a:solidFill>
                  <a:srgbClr val="0B2545"/>
                </a:solidFill>
                <a:latin typeface="Calibri" pitchFamily="34" charset="0"/>
                <a:ea typeface="Calibri" pitchFamily="34" charset="-122"/>
                <a:cs typeface="Calibri" pitchFamily="34" charset="-120"/>
              </a:rPr>
              <a:t>1 205</a:t>
            </a:r>
            <a:endParaRPr lang="en-US" sz="3600" dirty="0"/>
          </a:p>
        </p:txBody>
      </p:sp>
      <p:sp>
        <p:nvSpPr>
          <p:cNvPr id="14" name="Text 11"/>
          <p:cNvSpPr txBox="1"/>
          <p:nvPr/>
        </p:nvSpPr>
        <p:spPr>
          <a:xfrm>
            <a:off x="6263640" y="1737360"/>
            <a:ext cx="2286000" cy="411480"/>
          </a:xfrm>
          <a:prstGeom prst="rect">
            <a:avLst/>
          </a:prstGeom>
          <a:noFill/>
          <a:ln/>
        </p:spPr>
        <p:txBody>
          <a:bodyPr wrap="square" lIns="0" tIns="0" rIns="0" bIns="0" rtlCol="0" anchor="t"/>
          <a:lstStyle/>
          <a:p>
            <a:pPr indent="0" marL="0">
              <a:buNone/>
            </a:pPr>
            <a:r>
              <a:rPr lang="en-US" sz="1200" dirty="0">
                <a:solidFill>
                  <a:srgbClr val="0B2545"/>
                </a:solidFill>
                <a:latin typeface="Calibri" pitchFamily="34" charset="0"/>
                <a:ea typeface="Calibri" pitchFamily="34" charset="-122"/>
                <a:cs typeface="Calibri" pitchFamily="34" charset="-120"/>
              </a:rPr>
              <a:t>jours avec retards J-1 et J-7</a:t>
            </a:r>
            <a:endParaRPr lang="en-US" sz="1200" dirty="0"/>
          </a:p>
        </p:txBody>
      </p:sp>
      <p:sp>
        <p:nvSpPr>
          <p:cNvPr id="15" name="Shape 12"/>
          <p:cNvSpPr/>
          <p:nvPr/>
        </p:nvSpPr>
        <p:spPr>
          <a:xfrm>
            <a:off x="457200" y="2514600"/>
            <a:ext cx="4023360" cy="201168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6" name="Text 13"/>
          <p:cNvSpPr txBox="1"/>
          <p:nvPr/>
        </p:nvSpPr>
        <p:spPr>
          <a:xfrm>
            <a:off x="594360" y="2560320"/>
            <a:ext cx="3749040" cy="36576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Préparation sans fuite</a:t>
            </a:r>
            <a:endParaRPr lang="en-US" sz="1600" dirty="0"/>
          </a:p>
        </p:txBody>
      </p:sp>
      <p:sp>
        <p:nvSpPr>
          <p:cNvPr id="17" name="Text 14"/>
          <p:cNvSpPr txBox="1"/>
          <p:nvPr/>
        </p:nvSpPr>
        <p:spPr>
          <a:xfrm>
            <a:off x="594360" y="2926080"/>
            <a:ext cx="374904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Jours incomplets écartés, sans imputation</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Retards construits par date</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Variables du jour à prédire exclues (tension, intensité, sous-compteurs)</a:t>
            </a:r>
            <a:endParaRPr lang="en-US" sz="1400" dirty="0"/>
          </a:p>
        </p:txBody>
      </p:sp>
      <p:sp>
        <p:nvSpPr>
          <p:cNvPr id="18" name="Shape 15"/>
          <p:cNvSpPr/>
          <p:nvPr/>
        </p:nvSpPr>
        <p:spPr>
          <a:xfrm>
            <a:off x="4663440" y="2514600"/>
            <a:ext cx="4023360" cy="201168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9" name="Text 16"/>
          <p:cNvSpPr txBox="1"/>
          <p:nvPr/>
        </p:nvSpPr>
        <p:spPr>
          <a:xfrm>
            <a:off x="4800600" y="2560320"/>
            <a:ext cx="3749040" cy="365760"/>
          </a:xfrm>
          <a:prstGeom prst="rect">
            <a:avLst/>
          </a:prstGeom>
          <a:noFill/>
          <a:ln/>
        </p:spPr>
        <p:txBody>
          <a:bodyPr wrap="square" lIns="0" tIns="0" rIns="0" bIns="0" rtlCol="0" anchor="ctr"/>
          <a:lstStyle/>
          <a:p>
            <a:pPr indent="0" marL="0">
              <a:buNone/>
            </a:pPr>
            <a:r>
              <a:rPr lang="en-US" sz="1600" b="1" dirty="0">
                <a:solidFill>
                  <a:srgbClr val="14A89A"/>
                </a:solidFill>
                <a:latin typeface="Calibri" pitchFamily="34" charset="0"/>
                <a:ea typeface="Calibri" pitchFamily="34" charset="-122"/>
                <a:cs typeface="Calibri" pitchFamily="34" charset="-120"/>
              </a:rPr>
              <a:t>Ce que montrent les données</a:t>
            </a:r>
            <a:endParaRPr lang="en-US" sz="1600" dirty="0"/>
          </a:p>
        </p:txBody>
      </p:sp>
      <p:sp>
        <p:nvSpPr>
          <p:cNvPr id="20" name="Text 17"/>
          <p:cNvSpPr txBox="1"/>
          <p:nvPr/>
        </p:nvSpPr>
        <p:spPr>
          <a:xfrm>
            <a:off x="4800600" y="2926080"/>
            <a:ext cx="374904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Hiver : 34,5 kWh/jour, août : 12,7</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Week-end : +17 % (28,8 contre 24,7)</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La veille explique la suite (corrélation 0,62)</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Le modèle réduit l'erreur de 13 %, mais pas face à une moyenne simple</a:t>
            </a:r>
            <a:endParaRPr lang="en-US" sz="2400" dirty="0"/>
          </a:p>
        </p:txBody>
      </p:sp>
      <p:sp>
        <p:nvSpPr>
          <p:cNvPr id="4" name="Text 2"/>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Présenté par Susana NOGUEIRA COSTA (Membre 3)</a:t>
            </a:r>
            <a:endParaRPr lang="en-US" sz="1100" dirty="0"/>
          </a:p>
        </p:txBody>
      </p:sp>
      <p:sp>
        <p:nvSpPr>
          <p:cNvPr id="6" name="Text 3"/>
          <p:cNvSpPr txBox="1"/>
          <p:nvPr/>
        </p:nvSpPr>
        <p:spPr>
          <a:xfrm>
            <a:off x="457200" y="914400"/>
            <a:ext cx="4937760" cy="32004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Erreur moyenne sur le test (kWh/jour)</a:t>
            </a:r>
            <a:endParaRPr lang="en-US" sz="1400" dirty="0"/>
          </a:p>
        </p:txBody>
      </p:sp>
      <p:pic>
        <p:nvPicPr>
          <p:cNvPr id="7" name="Image 0" descr="mae.png">    </p:cNvPr>
          <p:cNvPicPr>
            <a:picLocks noChangeAspect="1"/>
          </p:cNvPicPr>
          <p:nvPr/>
        </p:nvPicPr>
        <p:blipFill>
          <a:blip r:embed="rId1"/>
          <a:stretch>
            <a:fillRect/>
          </a:stretch>
        </p:blipFill>
        <p:spPr>
          <a:xfrm>
            <a:off x="457200" y="1280160"/>
            <a:ext cx="5029200" cy="3328416"/>
          </a:xfrm>
          <a:prstGeom prst="rect">
            <a:avLst/>
          </a:prstGeom>
        </p:spPr>
      </p:pic>
      <p:sp>
        <p:nvSpPr>
          <p:cNvPr id="8" name="Shape 4"/>
          <p:cNvSpPr/>
          <p:nvPr/>
        </p:nvSpPr>
        <p:spPr>
          <a:xfrm>
            <a:off x="5669280" y="914400"/>
            <a:ext cx="3017520" cy="91440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9" name="Text 5"/>
          <p:cNvSpPr txBox="1"/>
          <p:nvPr/>
        </p:nvSpPr>
        <p:spPr>
          <a:xfrm>
            <a:off x="5806440" y="941832"/>
            <a:ext cx="2743200" cy="859536"/>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-13,1 %</a:t>
            </a:r>
            <a:endParaRPr lang="en-US" sz="2800" dirty="0"/>
          </a:p>
          <a:p>
            <a:pPr indent="0" marL="0">
              <a:buNone/>
            </a:pPr>
            <a:r>
              <a:rPr lang="en-US" sz="1200" dirty="0">
                <a:solidFill>
                  <a:srgbClr val="6B7280"/>
                </a:solidFill>
                <a:latin typeface="Calibri" pitchFamily="34" charset="0"/>
                <a:ea typeface="Calibri" pitchFamily="34" charset="-122"/>
                <a:cs typeface="Calibri" pitchFamily="34" charset="-120"/>
              </a:rPr>
              <a:t>d'erreur face à la méthode actuelle</a:t>
            </a:r>
            <a:endParaRPr lang="en-US" sz="2800" dirty="0"/>
          </a:p>
        </p:txBody>
      </p:sp>
      <p:sp>
        <p:nvSpPr>
          <p:cNvPr id="10" name="Shape 6"/>
          <p:cNvSpPr/>
          <p:nvPr/>
        </p:nvSpPr>
        <p:spPr>
          <a:xfrm>
            <a:off x="5669280" y="1965960"/>
            <a:ext cx="3017520" cy="91440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1" name="Text 7"/>
          <p:cNvSpPr txBox="1"/>
          <p:nvPr/>
        </p:nvSpPr>
        <p:spPr>
          <a:xfrm>
            <a:off x="5806440" y="1993392"/>
            <a:ext cx="2743200" cy="859536"/>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-0,1 %</a:t>
            </a:r>
            <a:endParaRPr lang="en-US" sz="2800" dirty="0"/>
          </a:p>
          <a:p>
            <a:pPr indent="0" marL="0">
              <a:buNone/>
            </a:pPr>
            <a:r>
              <a:rPr lang="en-US" sz="1200" dirty="0">
                <a:solidFill>
                  <a:srgbClr val="6B7280"/>
                </a:solidFill>
                <a:latin typeface="Calibri" pitchFamily="34" charset="0"/>
                <a:ea typeface="Calibri" pitchFamily="34" charset="-122"/>
                <a:cs typeface="Calibri" pitchFamily="34" charset="-120"/>
              </a:rPr>
              <a:t>face à la moyenne 7 jours</a:t>
            </a:r>
            <a:endParaRPr lang="en-US" sz="2800" dirty="0"/>
          </a:p>
        </p:txBody>
      </p:sp>
      <p:sp>
        <p:nvSpPr>
          <p:cNvPr id="12" name="Text 8"/>
          <p:cNvSpPr txBox="1"/>
          <p:nvPr/>
        </p:nvSpPr>
        <p:spPr>
          <a:xfrm>
            <a:off x="5669280" y="3017520"/>
            <a:ext cx="3017520" cy="1645920"/>
          </a:xfrm>
          <a:prstGeom prst="rect">
            <a:avLst/>
          </a:prstGeom>
          <a:noFill/>
          <a:ln/>
        </p:spPr>
        <p:txBody>
          <a:bodyPr wrap="square" lIns="0" tIns="0" rIns="0" bIns="0" rtlCol="0" anchor="t"/>
          <a:lstStyle/>
          <a:p>
            <a:pPr indent="0" marL="0">
              <a:spcAft>
                <a:spcPts val="400"/>
              </a:spcAft>
              <a:buNone/>
            </a:pPr>
            <a:r>
              <a:rPr lang="en-US" sz="1200" b="1" dirty="0">
                <a:solidFill>
                  <a:srgbClr val="333333"/>
                </a:solidFill>
                <a:latin typeface="Calibri" pitchFamily="34" charset="0"/>
                <a:ea typeface="Calibri" pitchFamily="34" charset="-122"/>
                <a:cs typeface="Calibri" pitchFamily="34" charset="-120"/>
              </a:rPr>
              <a:t>Objectif de -20 % : non atteint.</a:t>
            </a:r>
            <a:endParaRPr lang="en-US" sz="1200" dirty="0"/>
          </a:p>
          <a:p>
            <a:pPr indent="0" marL="0">
              <a:spcAft>
                <a:spcPts val="400"/>
              </a:spcAft>
              <a:buNone/>
            </a:pPr>
            <a:r>
              <a:rPr lang="en-US" sz="1200" dirty="0">
                <a:solidFill>
                  <a:srgbClr val="333333"/>
                </a:solidFill>
                <a:latin typeface="Calibri" pitchFamily="34" charset="0"/>
                <a:ea typeface="Calibri" pitchFamily="34" charset="-122"/>
                <a:cs typeface="Calibri" pitchFamily="34" charset="-120"/>
              </a:rPr>
              <a:t>Test : 233 jours jamais vus (03/02 au 25/11/2010).</a:t>
            </a:r>
            <a:endParaRPr lang="en-US" sz="1200" dirty="0"/>
          </a:p>
          <a:p>
            <a:pPr indent="0" marL="0">
              <a:spcAft>
                <a:spcPts val="400"/>
              </a:spcAft>
              <a:buNone/>
            </a:pPr>
            <a:r>
              <a:rPr lang="en-US" sz="1200" dirty="0">
                <a:solidFill>
                  <a:srgbClr val="333333"/>
                </a:solidFill>
                <a:latin typeface="Calibri" pitchFamily="34" charset="0"/>
                <a:ea typeface="Calibri" pitchFamily="34" charset="-122"/>
                <a:cs typeface="Calibri" pitchFamily="34" charset="-120"/>
              </a:rPr>
              <a:t>Démarche : découpage chronologique, 6 approches, validation croisée temporelle, test utilisé une seule fois.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 valeur dépend de la référence et du portefeuille</a:t>
            </a:r>
            <a:endParaRPr lang="en-US" sz="2400" dirty="0"/>
          </a:p>
        </p:txBody>
      </p:sp>
      <p:sp>
        <p:nvSpPr>
          <p:cNvPr id="4" name="Text 2"/>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Présenté par Eurydice SEMASSOU (Membre 1)</a:t>
            </a:r>
            <a:endParaRPr lang="en-US" sz="1100" dirty="0"/>
          </a:p>
        </p:txBody>
      </p:sp>
      <p:pic>
        <p:nvPicPr>
          <p:cNvPr id="6" name="Image 0" descr="roi.png">    </p:cNvPr>
          <p:cNvPicPr>
            <a:picLocks noChangeAspect="1"/>
          </p:cNvPicPr>
          <p:nvPr/>
        </p:nvPicPr>
        <p:blipFill>
          <a:blip r:embed="rId1"/>
          <a:stretch>
            <a:fillRect/>
          </a:stretch>
        </p:blipFill>
        <p:spPr>
          <a:xfrm>
            <a:off x="457200" y="914400"/>
            <a:ext cx="3749040" cy="3694176"/>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0" y="914400"/>
          <a:ext cx="4114800" cy="914400"/>
        </p:xfrm>
        <a:graphic>
          <a:graphicData uri="http://schemas.openxmlformats.org/drawingml/2006/table">
            <a:tbl>
              <a:tblPr/>
              <a:tblGrid>
                <a:gridCol w="1554480"/>
                <a:gridCol w="1280160"/>
                <a:gridCol w="128016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Scénario</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ROI an 1</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Retour</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r>
              <a:tr h="384048">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Pessimiste</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4572E"/>
                          </a:solidFill>
                          <a:latin typeface="Calibri" pitchFamily="34" charset="0"/>
                          <a:ea typeface="Calibri" pitchFamily="34" charset="-122"/>
                          <a:cs typeface="Calibri" pitchFamily="34" charset="-120"/>
                        </a:rPr>
                        <a:t>-36,2 %</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18,8 mois</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Central</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155,2 %</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4,7 mois</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Optimiste</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289,1 %</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3,1 mois</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Réf. moy. 7 j</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4572E"/>
                          </a:solidFill>
                          <a:latin typeface="Calibri" pitchFamily="34" charset="0"/>
                          <a:ea typeface="Calibri" pitchFamily="34" charset="-122"/>
                          <a:cs typeface="Calibri" pitchFamily="34" charset="-120"/>
                        </a:rPr>
                        <a:t>-56,7 %</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27,7 mois</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4572000" y="3108960"/>
            <a:ext cx="4114800" cy="109728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Hypothèses : 10 000 foyers, projet à 50 000 € la 1re année, prix posés par l'équipe. Équilibre : environ 3 900 foyers.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Risques et recommandation : un pilote avant de déployer</a:t>
            </a:r>
            <a:endParaRPr lang="en-US" sz="2400" dirty="0"/>
          </a:p>
        </p:txBody>
      </p:sp>
      <p:sp>
        <p:nvSpPr>
          <p:cNvPr id="4" name="Text 2"/>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Présenté par Eurydice SEMASSOU (Membre 1)</a:t>
            </a:r>
            <a:endParaRPr lang="en-US" sz="1100" dirty="0"/>
          </a:p>
        </p:txBody>
      </p:sp>
      <p:sp>
        <p:nvSpPr>
          <p:cNvPr id="6" name="Shape 3"/>
          <p:cNvSpPr/>
          <p:nvPr/>
        </p:nvSpPr>
        <p:spPr>
          <a:xfrm>
            <a:off x="457200" y="960120"/>
            <a:ext cx="4297680" cy="109728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7" name="Text 4"/>
          <p:cNvSpPr txBox="1"/>
          <p:nvPr/>
        </p:nvSpPr>
        <p:spPr>
          <a:xfrm>
            <a:off x="594360" y="1005840"/>
            <a:ext cx="4023360" cy="1005840"/>
          </a:xfrm>
          <a:prstGeom prst="rect">
            <a:avLst/>
          </a:prstGeom>
          <a:noFill/>
          <a:ln/>
        </p:spPr>
        <p:txBody>
          <a:bodyPr wrap="square" lIns="0" tIns="0" rIns="0" bIns="0" rtlCol="0" anchor="t"/>
          <a:lstStyle/>
          <a:p>
            <a:pPr indent="0" marL="0">
              <a:spcAft>
                <a:spcPts val="300"/>
              </a:spcAft>
              <a:buNone/>
            </a:pPr>
            <a:r>
              <a:rPr lang="en-US" sz="1500" b="1" dirty="0">
                <a:solidFill>
                  <a:srgbClr val="E4572E"/>
                </a:solidFill>
                <a:latin typeface="Calibri" pitchFamily="34" charset="0"/>
                <a:ea typeface="Calibri" pitchFamily="34" charset="-122"/>
                <a:cs typeface="Calibri" pitchFamily="34" charset="-120"/>
              </a:rPr>
              <a:t>Un seul foyer</a:t>
            </a:r>
            <a:endParaRPr lang="en-US" sz="1500" dirty="0"/>
          </a:p>
          <a:p>
            <a:pPr indent="0" marL="0">
              <a:spcAft>
                <a:spcPts val="300"/>
              </a:spcAft>
              <a:buNone/>
            </a:pPr>
            <a:r>
              <a:rPr lang="en-US" sz="1300" dirty="0">
                <a:solidFill>
                  <a:srgbClr val="333333"/>
                </a:solidFill>
                <a:latin typeface="Calibri" pitchFamily="34" charset="0"/>
                <a:ea typeface="Calibri" pitchFamily="34" charset="-122"/>
                <a:cs typeface="Calibri" pitchFamily="34" charset="-120"/>
              </a:rPr>
              <a:t>Le modèle peut ne pas se généraliser. Mesure : pilote sur des foyers variés.</a:t>
            </a:r>
            <a:endParaRPr lang="en-US" sz="1500" dirty="0"/>
          </a:p>
        </p:txBody>
      </p:sp>
      <p:sp>
        <p:nvSpPr>
          <p:cNvPr id="8" name="Shape 5"/>
          <p:cNvSpPr/>
          <p:nvPr/>
        </p:nvSpPr>
        <p:spPr>
          <a:xfrm>
            <a:off x="457200" y="2148840"/>
            <a:ext cx="4297680" cy="109728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9" name="Text 6"/>
          <p:cNvSpPr txBox="1"/>
          <p:nvPr/>
        </p:nvSpPr>
        <p:spPr>
          <a:xfrm>
            <a:off x="594360" y="2194560"/>
            <a:ext cx="4023360" cy="1005840"/>
          </a:xfrm>
          <a:prstGeom prst="rect">
            <a:avLst/>
          </a:prstGeom>
          <a:noFill/>
          <a:ln/>
        </p:spPr>
        <p:txBody>
          <a:bodyPr wrap="square" lIns="0" tIns="0" rIns="0" bIns="0" rtlCol="0" anchor="t"/>
          <a:lstStyle/>
          <a:p>
            <a:pPr indent="0" marL="0">
              <a:spcAft>
                <a:spcPts val="300"/>
              </a:spcAft>
              <a:buNone/>
            </a:pPr>
            <a:r>
              <a:rPr lang="en-US" sz="1500" b="1" dirty="0">
                <a:solidFill>
                  <a:srgbClr val="E4572E"/>
                </a:solidFill>
                <a:latin typeface="Calibri" pitchFamily="34" charset="0"/>
                <a:ea typeface="Calibri" pitchFamily="34" charset="-122"/>
                <a:cs typeface="Calibri" pitchFamily="34" charset="-120"/>
              </a:rPr>
              <a:t>Gain non démontré</a:t>
            </a:r>
            <a:endParaRPr lang="en-US" sz="1500" dirty="0"/>
          </a:p>
          <a:p>
            <a:pPr indent="0" marL="0">
              <a:spcAft>
                <a:spcPts val="300"/>
              </a:spcAft>
              <a:buNone/>
            </a:pPr>
            <a:r>
              <a:rPr lang="en-US" sz="1300" dirty="0">
                <a:solidFill>
                  <a:srgbClr val="333333"/>
                </a:solidFill>
                <a:latin typeface="Calibri" pitchFamily="34" charset="0"/>
                <a:ea typeface="Calibri" pitchFamily="34" charset="-122"/>
                <a:cs typeface="Calibri" pitchFamily="34" charset="-120"/>
              </a:rPr>
              <a:t>Même MAE qu'une moyenne 7 jours. Mesure : l'utiliser comme référence.</a:t>
            </a:r>
            <a:endParaRPr lang="en-US" sz="1500" dirty="0"/>
          </a:p>
        </p:txBody>
      </p:sp>
      <p:sp>
        <p:nvSpPr>
          <p:cNvPr id="10" name="Shape 7"/>
          <p:cNvSpPr/>
          <p:nvPr/>
        </p:nvSpPr>
        <p:spPr>
          <a:xfrm>
            <a:off x="457200" y="3337560"/>
            <a:ext cx="4297680" cy="1097280"/>
          </a:xfrm>
          <a:prstGeom prst="rect">
            <a:avLst/>
          </a:prstGeom>
          <a:solidFill>
            <a:srgbClr val="FFFFFF"/>
          </a:solidFill>
          <a:ln w="9525">
            <a:solidFill>
              <a:srgbClr val="DADDE5"/>
            </a:solidFill>
            <a:prstDash val="solid"/>
          </a:ln>
          <a:effectLst>
            <a:outerShdw sx="100000" sy="100000" kx="0" ky="0" algn="bl" rotWithShape="0" blurRad="50800" dist="19050" dir="5400000">
              <a:srgbClr val="000000">
                <a:alpha val="12000"/>
              </a:srgbClr>
            </a:outerShdw>
          </a:effectLst>
        </p:spPr>
      </p:sp>
      <p:sp>
        <p:nvSpPr>
          <p:cNvPr id="11" name="Text 8"/>
          <p:cNvSpPr txBox="1"/>
          <p:nvPr/>
        </p:nvSpPr>
        <p:spPr>
          <a:xfrm>
            <a:off x="594360" y="3383280"/>
            <a:ext cx="4023360" cy="1005840"/>
          </a:xfrm>
          <a:prstGeom prst="rect">
            <a:avLst/>
          </a:prstGeom>
          <a:noFill/>
          <a:ln/>
        </p:spPr>
        <p:txBody>
          <a:bodyPr wrap="square" lIns="0" tIns="0" rIns="0" bIns="0" rtlCol="0" anchor="t"/>
          <a:lstStyle/>
          <a:p>
            <a:pPr indent="0" marL="0">
              <a:spcAft>
                <a:spcPts val="300"/>
              </a:spcAft>
              <a:buNone/>
            </a:pPr>
            <a:r>
              <a:rPr lang="en-US" sz="1500" b="1" dirty="0">
                <a:solidFill>
                  <a:srgbClr val="E4572E"/>
                </a:solidFill>
                <a:latin typeface="Calibri" pitchFamily="34" charset="0"/>
                <a:ea typeface="Calibri" pitchFamily="34" charset="-122"/>
                <a:cs typeface="Calibri" pitchFamily="34" charset="-120"/>
              </a:rPr>
              <a:t>Prix et RGPD</a:t>
            </a:r>
            <a:endParaRPr lang="en-US" sz="1500" dirty="0"/>
          </a:p>
          <a:p>
            <a:pPr indent="0" marL="0">
              <a:spcAft>
                <a:spcPts val="300"/>
              </a:spcAft>
              <a:buNone/>
            </a:pPr>
            <a:r>
              <a:rPr lang="en-US" sz="1300" dirty="0">
                <a:solidFill>
                  <a:srgbClr val="333333"/>
                </a:solidFill>
                <a:latin typeface="Calibri" pitchFamily="34" charset="0"/>
                <a:ea typeface="Calibri" pitchFamily="34" charset="-122"/>
                <a:cs typeface="Calibri" pitchFamily="34" charset="-120"/>
              </a:rPr>
              <a:t>Prix à valider ; la consommation révèle les habitudes. Mesure : pilote, données agrégées.</a:t>
            </a:r>
            <a:endParaRPr lang="en-US" sz="1500" dirty="0"/>
          </a:p>
        </p:txBody>
      </p:sp>
      <p:sp>
        <p:nvSpPr>
          <p:cNvPr id="12" name="Shape 9"/>
          <p:cNvSpPr/>
          <p:nvPr/>
        </p:nvSpPr>
        <p:spPr>
          <a:xfrm>
            <a:off x="5029200" y="960120"/>
            <a:ext cx="3657600" cy="3474720"/>
          </a:xfrm>
          <a:prstGeom prst="rect">
            <a:avLst/>
          </a:prstGeom>
          <a:solidFill>
            <a:srgbClr val="14A89A"/>
          </a:solidFill>
          <a:ln w="12700">
            <a:solidFill>
              <a:srgbClr val="14A89A"/>
            </a:solidFill>
            <a:prstDash val="solid"/>
          </a:ln>
        </p:spPr>
      </p:sp>
      <p:sp>
        <p:nvSpPr>
          <p:cNvPr id="13" name="Text 10"/>
          <p:cNvSpPr txBox="1"/>
          <p:nvPr/>
        </p:nvSpPr>
        <p:spPr>
          <a:xfrm>
            <a:off x="5212080" y="1097280"/>
            <a:ext cx="3291840" cy="3200400"/>
          </a:xfrm>
          <a:prstGeom prst="rect">
            <a:avLst/>
          </a:prstGeom>
          <a:noFill/>
          <a:ln/>
        </p:spPr>
        <p:txBody>
          <a:bodyPr wrap="square" lIns="0" tIns="0" rIns="0" bIns="0" rtlCol="0" anchor="t"/>
          <a:lstStyle/>
          <a:p>
            <a:pPr indent="0" marL="0">
              <a:spcAft>
                <a:spcPts val="900"/>
              </a:spcAft>
              <a:buNone/>
            </a:pPr>
            <a:r>
              <a:rPr lang="en-US" sz="2000" b="1" dirty="0">
                <a:solidFill>
                  <a:srgbClr val="FFFFFF"/>
                </a:solidFill>
                <a:latin typeface="Calibri" pitchFamily="34" charset="0"/>
                <a:ea typeface="Calibri" pitchFamily="34" charset="-122"/>
                <a:cs typeface="Calibri" pitchFamily="34" charset="-120"/>
              </a:rPr>
              <a:t>Recommandation</a:t>
            </a:r>
            <a:endParaRPr lang="en-US" sz="1400" dirty="0"/>
          </a:p>
          <a:p>
            <a:pPr indent="0" marL="0">
              <a:spcAft>
                <a:spcPts val="900"/>
              </a:spcAft>
              <a:buNone/>
            </a:pPr>
            <a:r>
              <a:rPr lang="en-US" sz="1400" dirty="0">
                <a:solidFill>
                  <a:srgbClr val="FFFFFF"/>
                </a:solidFill>
                <a:latin typeface="Calibri" pitchFamily="34" charset="0"/>
                <a:ea typeface="Calibri" pitchFamily="34" charset="-122"/>
                <a:cs typeface="Calibri" pitchFamily="34" charset="-120"/>
              </a:rPr>
              <a:t>Tester le modèle 3 mois sur un petit portefeuille de foyers.</a:t>
            </a:r>
            <a:endParaRPr lang="en-US" sz="1400" dirty="0"/>
          </a:p>
          <a:p>
            <a:pPr indent="0" marL="0">
              <a:spcAft>
                <a:spcPts val="900"/>
              </a:spcAft>
              <a:buNone/>
            </a:pPr>
            <a:r>
              <a:rPr lang="en-US" sz="1400" dirty="0">
                <a:solidFill>
                  <a:srgbClr val="FFFFFF"/>
                </a:solidFill>
                <a:latin typeface="Calibri" pitchFamily="34" charset="0"/>
                <a:ea typeface="Calibri" pitchFamily="34" charset="-122"/>
                <a:cs typeface="Calibri" pitchFamily="34" charset="-120"/>
              </a:rPr>
              <a:t>Ajouter la météo et les jours fériés.</a:t>
            </a:r>
            <a:endParaRPr lang="en-US" sz="1400" dirty="0"/>
          </a:p>
          <a:p>
            <a:pPr indent="0" marL="0">
              <a:spcAft>
                <a:spcPts val="900"/>
              </a:spcAft>
              <a:buNone/>
            </a:pPr>
            <a:r>
              <a:rPr lang="en-US" sz="1400" dirty="0">
                <a:solidFill>
                  <a:srgbClr val="FFFFFF"/>
                </a:solidFill>
                <a:latin typeface="Calibri" pitchFamily="34" charset="0"/>
                <a:ea typeface="Calibri" pitchFamily="34" charset="-122"/>
                <a:cs typeface="Calibri" pitchFamily="34" charset="-120"/>
              </a:rPr>
              <a:t>Mesurer le vrai coût d'un kWh d'erreur et la vraie amélioration face aux deux références, avant tout déploiement.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5294"/>
          </a:solidFill>
          <a:ln w="12700">
            <a:solidFill>
              <a:srgbClr val="0E5294"/>
            </a:solidFill>
            <a:prstDash val="solid"/>
          </a:ln>
        </p:spPr>
      </p:sp>
      <p:sp>
        <p:nvSpPr>
          <p:cNvPr id="3" name="Text 1"/>
          <p:cNvSpPr txBox="1"/>
          <p:nvPr/>
        </p:nvSpPr>
        <p:spPr>
          <a:xfrm>
            <a:off x="457200" y="457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Qui a fait quoi</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2926080"/>
                <a:gridCol w="292608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Membre</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Rôle</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Livrable</a:t>
                      </a:r>
                      <a:endParaRPr lang="en-US" sz="1300" dirty="0">
                        <a:latin typeface="Calibri" charset="0"/>
                        <a:ea typeface="Calibri" charset="0"/>
                        <a:cs typeface="Calibri" charset="0"/>
                      </a:endParaRPr>
                    </a:p>
                  </a:txBody>
                  <a:tcPr marL="91440" marR="91440" marT="45720" marB="45720">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0B2545"/>
                    </a:solidFill>
                  </a:tcPr>
                </a:tc>
              </a:tr>
              <a:tr h="91440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Eurydice SEMASSOU (Membre 1)</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Business et décision : expliquer pourquoi le projet est utile</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Note business de 1 à 2 pages (hypothèses, indicateurs, limites)</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r h="91440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Sabirath SOUMANOU (Membre 2)</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Données et préparation : rendre les données compréhensibles et utilisables</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Notebook 01_cadrage_eda.ipynb et table propre features_conso.csv</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r h="91440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Susana NOGUEIRA COSTA (Membre 3)</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Machine learning et évaluation : construire les modèles et vérifier qu'ils sont fiables</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Notebook 02_modelisation.ipynb, tableau comparatif des modèles, prédictions finales</a:t>
                      </a:r>
                      <a:endParaRPr lang="en-US" sz="1200" dirty="0">
                        <a:latin typeface="Calibri" charset="0"/>
                        <a:ea typeface="Calibri" charset="0"/>
                        <a:cs typeface="Calibri" charset="0"/>
                      </a:endParaRPr>
                    </a:p>
                  </a:txBody>
                  <a:tcPr marL="91440" marR="91440" marT="45720" marB="45720" anchor="ctr">
                    <a:lnL w="9525" cap="flat" cmpd="sng" algn="ctr">
                      <a:solidFill>
                        <a:srgbClr val="D0D4DC"/>
                      </a:solidFill>
                      <a:prstDash val="solid"/>
                      <a:round/>
                      <a:headEnd type="none" w="med" len="med"/>
                      <a:tailEnd type="none" w="med" len="med"/>
                    </a:lnL>
                    <a:lnR w="9525" cap="flat" cmpd="sng" algn="ctr">
                      <a:solidFill>
                        <a:srgbClr val="D0D4DC"/>
                      </a:solidFill>
                      <a:prstDash val="solid"/>
                      <a:round/>
                      <a:headEnd type="none" w="med" len="med"/>
                      <a:tailEnd type="none" w="med" len="med"/>
                    </a:lnR>
                    <a:lnT w="9525" cap="flat" cmpd="sng" algn="ctr">
                      <a:solidFill>
                        <a:srgbClr val="D0D4DC"/>
                      </a:solidFill>
                      <a:prstDash val="solid"/>
                      <a:round/>
                      <a:headEnd type="none" w="med" len="med"/>
                      <a:tailEnd type="none" w="med" len="med"/>
                    </a:lnT>
                    <a:lnB w="9525" cap="flat" cmpd="sng" algn="ctr">
                      <a:solidFill>
                        <a:srgbClr val="D0D4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Prévision de la consommation électrique du lendemain</dc:title>
  <dc:subject>PptxGenJS Presentation</dc:subject>
  <dc:creator>PptxGenJS</dc:creator>
  <cp:lastModifiedBy>PptxGenJS</cp:lastModifiedBy>
  <cp:revision>1</cp:revision>
  <dcterms:created xsi:type="dcterms:W3CDTF">2026-10-23T07:54:42Z</dcterms:created>
  <dcterms:modified xsi:type="dcterms:W3CDTF">2026-10-23T07:54:42Z</dcterms:modified>
</cp:coreProperties>
</file>